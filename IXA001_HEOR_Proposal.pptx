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IXA-001 Health Economics</a:t>
            </a:r>
            <a:br/>
            <a:r>
              <a:t>&amp; Outcomes Research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D7EE"/>
                </a:solidFill>
              </a:defRPr>
            </a:pPr>
            <a:r>
              <a:t>Proposal for Atlantis Pharmaceuticals</a:t>
            </a:r>
            <a:br/>
            <a:r>
              <a:t>Genesis Research Group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Genesis Research Group proposes to develop two integrated HEOR models for IXA-001: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Cost-Effectiveness Model (CEA): Demonstrates value for HTA submissions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Budget Impact Model (BIM): Supports US and EU5 payer negotiations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IXA-001 shows strong value proposition: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ICER of $61,419/QALY - well below US threshold of $100,000/QALY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Superior BP reduction (20 mmHg) vs. spironolactone (9 mmHg)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Significant reduction in stroke and renal progression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Models are designed for flexibility, transparency, and payer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Understanding Your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Atlantis requires HEOR support for IXA-001 market access strategy: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Primary markets: US (initial), EU5 (UK, Germany, France, Italy, Spain)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Target audience: HTA bodies (NICE, ICER, G-BA) and commercial payers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Key deliverables identified: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Cost-effectiveness model suitable for HTA submissions globally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User-friendly budget impact model for face-to-face payer discussions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Technical documentation and model transparency reports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Critical success factors: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Robust clinical foundation using PREVENT 2024 risk equations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Flexible architecture to accommodate emerging data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Clear, compelling presentation of value 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Cost-Effectiveness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CEA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Model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Individual-level microsimulation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Monte Carlo sampling (N=1,000+)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Monthly cycle length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40-year (lifetime) time horizon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3% annual discounting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US and UK cost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Health States Modeled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Cardiac: MI, Stroke (Ischemic/Hemorrhagic), TIA, Heart Failure, CV Death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Renal: CKD Stages 1-4, ESRD, Renal Death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Neurological: Normal Cognition, MCI, Dementia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All states linked to BP control and treatment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Clinical Inputs &amp; Treatment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04040"/>
                </a:solidFill>
              </a:defRPr>
            </a:pPr>
            <a:r>
              <a:t>Risk equations: AHA PREVENT 2024 (10-year CVD risk)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IXA-001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Spironolactone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SBP Reduction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20 mmHg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9 mmHg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Phase 3 Trial Data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Annual Discontinuation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Clinical Expert Input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Hyperkalemia Risk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Safety Database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CV Risk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Via BP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Via BP 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PREVENT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Renal Protection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Mechanistic modeling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Cost-Effectiveness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16459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$61,419/QALY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Cost-Effective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371600"/>
            <a:ext cx="1920240" cy="1645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6459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$15,706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Incremental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60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Per Patient (Lifetime)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1920240" cy="1645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459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0.256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Incremental QALYs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0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Per Patient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371600"/>
            <a:ext cx="1920240" cy="16459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459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Strokes Avoided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603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Per 1,000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t>Interpretation</a:t>
            </a:r>
          </a:p>
          <a:p>
            <a:pPr>
              <a:spcBef>
                <a:spcPts val="800"/>
              </a:spcBef>
              <a:defRPr sz="1400">
                <a:solidFill>
                  <a:srgbClr val="404040"/>
                </a:solidFill>
              </a:defRPr>
            </a:pPr>
            <a:r>
              <a:t>• IXA-001 is cost-effective at the $100,000/QALY threshold (US) and $50,000/QALY (UK)</a:t>
            </a:r>
          </a:p>
          <a:p>
            <a:pPr>
              <a:spcBef>
                <a:spcPts val="800"/>
              </a:spcBef>
              <a:defRPr sz="1400">
                <a:solidFill>
                  <a:srgbClr val="404040"/>
                </a:solidFill>
              </a:defRPr>
            </a:pPr>
            <a:r>
              <a:t>• Superior BP reduction (20 mmHg vs 9 mmHg) translates to meaningful clinical benefits</a:t>
            </a:r>
          </a:p>
          <a:p>
            <a:pPr>
              <a:spcBef>
                <a:spcPts val="800"/>
              </a:spcBef>
              <a:defRPr sz="1400">
                <a:solidFill>
                  <a:srgbClr val="404040"/>
                </a:solidFill>
              </a:defRPr>
            </a:pPr>
            <a:r>
              <a:t>• Reduced stroke burden drives QALY gains; renal protection provides additional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Budget Impact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BIM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Model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Population-based cohort model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5-year time horizon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No discounting (per ISPOR guidelines)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Payer perspective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Three uptake scenarios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Multi-country support (US + EU5)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User-friendly Excel dashboard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Interactive input cells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Real-time scenario switching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Sensitivity analysis built-in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Price threshold calculator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Charts for payer presentations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BIM: Target Population (US, 1M Plan)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04040"/>
                </a:solidFill>
              </a:defRPr>
            </a:pPr>
            <a:r>
              <a:t>Sources: NHANES, Carey et al. Circulation 2018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Population Stage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% of Previous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Total Plan Population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Adults (18+)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With Hypertension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234,000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Resistant Hypertension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Uncontrolled Resistant HTN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14,040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Eligible for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11,232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Budget Impact Results (US, 1M Lives)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92024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11,232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Eligible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Treatment-Eligible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80160"/>
            <a:ext cx="1920240" cy="14630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$72.7M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659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5-Year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Total Budget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80160"/>
            <a:ext cx="192024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$1.80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Year 5 PMPM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Per Member Per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280160"/>
            <a:ext cx="1920240" cy="14630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$1,221/yr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9659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Budget-Neutral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t>Break-Even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Scenario Comparison (5-Year Budget Impact)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2918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Yr 5 Uptake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5-Yr 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Yr 5 PMPM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$36.6M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$0.90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$72.7M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$1.80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Optimistic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$105.0M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$2.47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Deliverables &amp; Timeline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Cost-Effectiveness Model Package: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Python microsimulation with full source code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Excel Markov model for validation and transparency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Technical documentation and model validation report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Sensitivity analysis outputs (tornado, PSA, CEAC)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Budget Impact Model Package: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Python calculation engine with Excel generation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User-friendly Excel workbook (9 interactive sheets)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Country-specific versions (US, UK, DE, FR, IT, ES)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User guide and technical documentation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Supporting Materials: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Model training session for Atlantis HEOR team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Payer presentation slide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Activities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1. Initiation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Kickoff, data review, protocol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Analysis plan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2. CEA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Model programming,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Week 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Draft CEA model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3. BIM Build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Population, costs, Excel output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Week 5-8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Draft BIM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4.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QC, face validity, stress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Week 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Validation report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5. Finalization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Revisions, documentation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Week 11-12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Final deliverables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Genesis Research Group?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Deep HEOR Expertise: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Specialized team with 50+ completed health economic models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Experience across cardiovascular, renal, and metabolic disease areas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Technical Excellence: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Dual Python/Excel approach ensures flexibility AND usability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Models built to HTA submission standards (NICE, ICER, G-BA)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Proven Track Record: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Successful submissions across US and EU5 markets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Strong relationships with key HTA bodies and payers</a:t>
            </a:r>
          </a:p>
          <a:p>
            <a:pPr>
              <a:spcBef>
                <a:spcPts val="1200"/>
              </a:spcBef>
              <a:defRPr sz="1800">
                <a:solidFill>
                  <a:srgbClr val="404040"/>
                </a:solidFill>
              </a:defRPr>
            </a:pPr>
            <a:r>
              <a:t>Client Partnership: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Collaborative approach with regular milestone reviews</a:t>
            </a:r>
          </a:p>
          <a:p>
            <a:pPr lvl="1"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Commitment to knowledge transfer and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Genesis Research Group</a:t>
            </a:r>
          </a:p>
          <a:p>
            <a:pPr algn="ctr">
              <a:defRPr sz="1800">
                <a:solidFill>
                  <a:srgbClr val="BDD7EE"/>
                </a:solidFill>
              </a:defRPr>
            </a:pPr>
            <a:r>
              <a:t>Health Economics &amp; Outcomes Research</a:t>
            </a:r>
          </a:p>
          <a:p>
            <a:br/>
            <a:pPr algn="ctr">
              <a:defRPr sz="1600" i="1">
                <a:solidFill>
                  <a:srgbClr val="BDD7EE"/>
                </a:solidFill>
              </a:defRPr>
            </a:pPr>
            <a:r>
              <a:t>We look forward to partnering with Atlantis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